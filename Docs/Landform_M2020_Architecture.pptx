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96" autoAdjust="0"/>
    <p:restoredTop sz="94660"/>
  </p:normalViewPr>
  <p:slideViewPr>
    <p:cSldViewPr snapToGrid="0">
      <p:cViewPr varScale="1">
        <p:scale>
          <a:sx n="179" d="100"/>
          <a:sy n="179" d="100"/>
        </p:scale>
        <p:origin x="19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9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4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1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2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07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6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2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9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41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CA951-E0CF-49A8-8492-36D6F92609AB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897D3-87E2-447A-A48E-D6E8CE9A1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9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alyticalGraphicsInc/3d-til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jpl.nasa.gov/OnSight/Landform/wiki/Generic-Scene-File-Specification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alyticalGraphicsInc/3d-til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/>
          <p:cNvSpPr/>
          <p:nvPr/>
        </p:nvSpPr>
        <p:spPr>
          <a:xfrm>
            <a:off x="763172" y="4598736"/>
            <a:ext cx="10749712" cy="160421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8337" y="1062971"/>
            <a:ext cx="4799264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1092785" y="5156874"/>
            <a:ext cx="1283368" cy="828865"/>
            <a:chOff x="3676899" y="3508608"/>
            <a:chExt cx="1283368" cy="1122948"/>
          </a:xfrm>
        </p:grpSpPr>
        <p:sp>
          <p:nvSpPr>
            <p:cNvPr id="5" name="Flowchart: Multidocument 4"/>
            <p:cNvSpPr/>
            <p:nvPr/>
          </p:nvSpPr>
          <p:spPr>
            <a:xfrm>
              <a:off x="3676899" y="3508608"/>
              <a:ext cx="1283368" cy="1122948"/>
            </a:xfrm>
            <a:prstGeom prst="flowChartMulti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06282" y="3755553"/>
              <a:ext cx="10674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Tactical Mesh</a:t>
              </a:r>
            </a:p>
            <a:p>
              <a:pPr algn="ctr"/>
              <a:r>
                <a:rPr lang="en-US" sz="1200" dirty="0" smtClean="0"/>
                <a:t>RDRs</a:t>
              </a:r>
              <a:endParaRPr lang="en-US" sz="1200" dirty="0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694982" y="4590396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S3</a:t>
            </a:r>
            <a:endParaRPr lang="en-US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2087665" y="2003316"/>
            <a:ext cx="7106653" cy="23136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495559" y="3125169"/>
            <a:ext cx="1122947" cy="843346"/>
            <a:chOff x="2695074" y="1828800"/>
            <a:chExt cx="1122947" cy="893011"/>
          </a:xfrm>
        </p:grpSpPr>
        <p:sp>
          <p:nvSpPr>
            <p:cNvPr id="9" name="Rectangle 8"/>
            <p:cNvSpPr/>
            <p:nvPr/>
          </p:nvSpPr>
          <p:spPr>
            <a:xfrm>
              <a:off x="2695074" y="1828800"/>
              <a:ext cx="1122947" cy="8930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95074" y="1936799"/>
              <a:ext cx="112294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Landform</a:t>
              </a:r>
            </a:p>
            <a:p>
              <a:pPr algn="ctr"/>
              <a:r>
                <a:rPr lang="en-US" sz="1200" dirty="0" smtClean="0"/>
                <a:t>Tactical Mesh</a:t>
              </a:r>
            </a:p>
            <a:p>
              <a:pPr algn="ctr"/>
              <a:r>
                <a:rPr lang="en-US" sz="1200" dirty="0" smtClean="0"/>
                <a:t>Worker</a:t>
              </a:r>
              <a:endParaRPr lang="en-US" sz="1200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70317" y="3125169"/>
            <a:ext cx="1122947" cy="843346"/>
            <a:chOff x="2695074" y="1828800"/>
            <a:chExt cx="1122947" cy="893011"/>
          </a:xfrm>
        </p:grpSpPr>
        <p:sp>
          <p:nvSpPr>
            <p:cNvPr id="14" name="Rectangle 13"/>
            <p:cNvSpPr/>
            <p:nvPr/>
          </p:nvSpPr>
          <p:spPr>
            <a:xfrm>
              <a:off x="2695074" y="1828800"/>
              <a:ext cx="1122947" cy="8930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5074" y="1936799"/>
              <a:ext cx="112294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Landform</a:t>
              </a:r>
            </a:p>
            <a:p>
              <a:pPr algn="ctr"/>
              <a:r>
                <a:rPr lang="en-US" sz="1200" dirty="0" smtClean="0"/>
                <a:t>Tactical Mesh</a:t>
              </a:r>
            </a:p>
            <a:p>
              <a:pPr algn="ctr"/>
              <a:r>
                <a:rPr lang="en-US" sz="1200" dirty="0" smtClean="0"/>
                <a:t>Worker</a:t>
              </a:r>
              <a:endParaRPr lang="en-US" sz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645075" y="3125169"/>
            <a:ext cx="1122947" cy="843346"/>
            <a:chOff x="2695074" y="1828800"/>
            <a:chExt cx="1122947" cy="893011"/>
          </a:xfrm>
        </p:grpSpPr>
        <p:sp>
          <p:nvSpPr>
            <p:cNvPr id="17" name="Rectangle 16"/>
            <p:cNvSpPr/>
            <p:nvPr/>
          </p:nvSpPr>
          <p:spPr>
            <a:xfrm>
              <a:off x="2695074" y="1828800"/>
              <a:ext cx="1122947" cy="8930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695074" y="1936799"/>
              <a:ext cx="112294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Landform</a:t>
              </a:r>
            </a:p>
            <a:p>
              <a:pPr algn="ctr"/>
              <a:r>
                <a:rPr lang="en-US" sz="1200" dirty="0" smtClean="0"/>
                <a:t>Tactical Mesh</a:t>
              </a:r>
            </a:p>
            <a:p>
              <a:pPr algn="ctr"/>
              <a:r>
                <a:rPr lang="en-US" sz="1200" dirty="0" smtClean="0"/>
                <a:t>Worker</a:t>
              </a:r>
              <a:endParaRPr lang="en-US" sz="1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438913" y="1768604"/>
            <a:ext cx="1492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EC2 </a:t>
            </a:r>
            <a:r>
              <a:rPr lang="en-US" sz="1200" dirty="0" err="1" smtClean="0"/>
              <a:t>Autoscale</a:t>
            </a:r>
            <a:r>
              <a:rPr lang="en-US" sz="1200" dirty="0" smtClean="0"/>
              <a:t> Group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3986781" y="2878370"/>
            <a:ext cx="715260" cy="9591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26" name="TextBox 25"/>
          <p:cNvSpPr txBox="1"/>
          <p:nvPr/>
        </p:nvSpPr>
        <p:spPr>
          <a:xfrm>
            <a:off x="6560882" y="2867619"/>
            <a:ext cx="715260" cy="9591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/>
              <a:t>…</a:t>
            </a:r>
            <a:endParaRPr lang="en-US" sz="6000" dirty="0"/>
          </a:p>
        </p:txBody>
      </p:sp>
      <p:sp>
        <p:nvSpPr>
          <p:cNvPr id="27" name="Rounded Rectangle 26"/>
          <p:cNvSpPr/>
          <p:nvPr/>
        </p:nvSpPr>
        <p:spPr>
          <a:xfrm>
            <a:off x="715046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smtClean="0"/>
              <a:t>RDRs Ready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69859" y="90073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cxnSp>
        <p:nvCxnSpPr>
          <p:cNvPr id="32" name="Straight Arrow Connector 31"/>
          <p:cNvCxnSpPr>
            <a:stCxn id="60" idx="2"/>
          </p:cNvCxnSpPr>
          <p:nvPr/>
        </p:nvCxnSpPr>
        <p:spPr>
          <a:xfrm>
            <a:off x="4131878" y="1529449"/>
            <a:ext cx="1307243" cy="1593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272" y="785692"/>
            <a:ext cx="1596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TODO Message Queue</a:t>
            </a:r>
            <a:endParaRPr lang="en-US" sz="12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6427873" y="5228963"/>
            <a:ext cx="1283368" cy="828865"/>
            <a:chOff x="3818021" y="3475789"/>
            <a:chExt cx="1283368" cy="1122948"/>
          </a:xfrm>
        </p:grpSpPr>
        <p:sp>
          <p:nvSpPr>
            <p:cNvPr id="40" name="Flowchart: Multidocument 39"/>
            <p:cNvSpPr/>
            <p:nvPr/>
          </p:nvSpPr>
          <p:spPr>
            <a:xfrm>
              <a:off x="3818021" y="3475789"/>
              <a:ext cx="1283368" cy="1122948"/>
            </a:xfrm>
            <a:prstGeom prst="flowChartMulti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845257" y="3724529"/>
              <a:ext cx="1086196" cy="6254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Tactical Mesh</a:t>
              </a:r>
            </a:p>
            <a:p>
              <a:pPr algn="ctr"/>
              <a:r>
                <a:rPr lang="en-US" sz="1200" dirty="0" smtClean="0"/>
                <a:t>3DTiles </a:t>
              </a:r>
              <a:r>
                <a:rPr lang="en-US" sz="1200" dirty="0" err="1" smtClean="0"/>
                <a:t>Tileset</a:t>
              </a:r>
              <a:endParaRPr lang="en-US" sz="1200" dirty="0"/>
            </a:p>
          </p:txBody>
        </p:sp>
      </p:grpSp>
      <p:cxnSp>
        <p:nvCxnSpPr>
          <p:cNvPr id="43" name="Straight Arrow Connector 42"/>
          <p:cNvCxnSpPr>
            <a:stCxn id="5" idx="0"/>
          </p:cNvCxnSpPr>
          <p:nvPr/>
        </p:nvCxnSpPr>
        <p:spPr>
          <a:xfrm flipV="1">
            <a:off x="1822760" y="3855039"/>
            <a:ext cx="3233609" cy="1301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0" idx="0"/>
          </p:cNvCxnSpPr>
          <p:nvPr/>
        </p:nvCxnSpPr>
        <p:spPr>
          <a:xfrm>
            <a:off x="5958842" y="3968515"/>
            <a:ext cx="1199006" cy="1260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141450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smtClean="0"/>
              <a:t>RDRs Ready</a:t>
            </a:r>
            <a:endParaRPr lang="en-US" sz="1200" dirty="0"/>
          </a:p>
        </p:txBody>
      </p:sp>
      <p:sp>
        <p:nvSpPr>
          <p:cNvPr id="60" name="Rounded Rectangle 59"/>
          <p:cNvSpPr/>
          <p:nvPr/>
        </p:nvSpPr>
        <p:spPr>
          <a:xfrm>
            <a:off x="3565056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smtClean="0"/>
              <a:t>RDRs Ready</a:t>
            </a:r>
            <a:endParaRPr lang="en-US" sz="1200" dirty="0"/>
          </a:p>
        </p:txBody>
      </p:sp>
      <p:sp>
        <p:nvSpPr>
          <p:cNvPr id="65" name="TextBox 64"/>
          <p:cNvSpPr txBox="1"/>
          <p:nvPr/>
        </p:nvSpPr>
        <p:spPr>
          <a:xfrm>
            <a:off x="7738477" y="5156874"/>
            <a:ext cx="3593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Directory of files, directory name identifies data product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Spec: </a:t>
            </a:r>
            <a:r>
              <a:rPr lang="en-US" sz="1000" dirty="0" smtClean="0">
                <a:hlinkClick r:id="rId2"/>
              </a:rPr>
              <a:t>https://github.com/AnalyticalGraphicsInc/3d-tiles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One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.</a:t>
            </a:r>
            <a:r>
              <a:rPr lang="en-US" sz="1000" dirty="0" err="1" smtClean="0"/>
              <a:t>json</a:t>
            </a:r>
            <a:r>
              <a:rPr lang="en-US" sz="1000" dirty="0" smtClean="0"/>
              <a:t> file, many .b3dm tile mesh/texture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PDS headers file propagated from tactical mesh RDRs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Coordinate frame of tactical mesh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always same as that of corresponding tactical mesh RDRs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18467" y="5135562"/>
            <a:ext cx="30838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Preferred format: one OBJ per LOD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Second choice: tar of ASCII IV per LOD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Third choice: binary </a:t>
            </a:r>
            <a:r>
              <a:rPr lang="en-US" sz="1000" dirty="0" smtClean="0"/>
              <a:t>IV (</a:t>
            </a:r>
            <a:r>
              <a:rPr lang="en-US" sz="1000" i="1" dirty="0" smtClean="0"/>
              <a:t>not</a:t>
            </a:r>
            <a:r>
              <a:rPr lang="en-US" sz="1000" dirty="0" smtClean="0"/>
              <a:t> “unified” IV)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evaluate tradeoffs in using existing RDR LODs vs read only finest LOD &amp; generate coarser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tactical mesh RDR PDS headers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59664" y="1062691"/>
            <a:ext cx="4799264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5677481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err="1" smtClean="0"/>
              <a:t>Tileset</a:t>
            </a:r>
            <a:r>
              <a:rPr lang="en-US" sz="1200" dirty="0" smtClean="0"/>
              <a:t> Ready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9708199" y="883118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sp>
        <p:nvSpPr>
          <p:cNvPr id="72" name="TextBox 71"/>
          <p:cNvSpPr txBox="1"/>
          <p:nvPr/>
        </p:nvSpPr>
        <p:spPr>
          <a:xfrm>
            <a:off x="5376621" y="827140"/>
            <a:ext cx="1679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Sidecar Message </a:t>
            </a:r>
            <a:r>
              <a:rPr lang="en-US" sz="1200" dirty="0" smtClean="0"/>
              <a:t>Queue</a:t>
            </a:r>
            <a:endParaRPr lang="en-US" sz="1200" dirty="0"/>
          </a:p>
        </p:txBody>
      </p:sp>
      <p:sp>
        <p:nvSpPr>
          <p:cNvPr id="73" name="Rounded Rectangle 72"/>
          <p:cNvSpPr/>
          <p:nvPr/>
        </p:nvSpPr>
        <p:spPr>
          <a:xfrm>
            <a:off x="7103885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err="1" smtClean="0"/>
              <a:t>Tileset</a:t>
            </a:r>
            <a:r>
              <a:rPr lang="en-US" sz="1200" dirty="0" smtClean="0"/>
              <a:t> Ready</a:t>
            </a:r>
            <a:endParaRPr lang="en-US" sz="1200" dirty="0"/>
          </a:p>
        </p:txBody>
      </p:sp>
      <p:sp>
        <p:nvSpPr>
          <p:cNvPr id="74" name="Rounded Rectangle 73"/>
          <p:cNvSpPr/>
          <p:nvPr/>
        </p:nvSpPr>
        <p:spPr>
          <a:xfrm>
            <a:off x="8527491" y="1122035"/>
            <a:ext cx="113364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err="1" smtClean="0"/>
              <a:t>Tileset</a:t>
            </a:r>
            <a:r>
              <a:rPr lang="en-US" sz="1200" dirty="0" smtClean="0"/>
              <a:t> Ready</a:t>
            </a:r>
            <a:endParaRPr lang="en-US" sz="1200" dirty="0"/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5817318" y="1535657"/>
            <a:ext cx="254742" cy="158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269172" y="2195184"/>
            <a:ext cx="2787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EC2 </a:t>
            </a:r>
            <a:r>
              <a:rPr lang="en-US" sz="1000" dirty="0"/>
              <a:t>i</a:t>
            </a:r>
            <a:r>
              <a:rPr lang="en-US" sz="1000" dirty="0" smtClean="0"/>
              <a:t>nstance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Scaling policy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Logging &amp;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Versioning &amp; Deployment (e.g. Docker)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74198" y="3504"/>
            <a:ext cx="9122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Landform Tactical Mesh Architecture for M2020</a:t>
            </a:r>
            <a:endParaRPr lang="en-US" sz="3600" dirty="0"/>
          </a:p>
        </p:txBody>
      </p:sp>
      <p:sp>
        <p:nvSpPr>
          <p:cNvPr id="92" name="TextBox 91"/>
          <p:cNvSpPr txBox="1"/>
          <p:nvPr/>
        </p:nvSpPr>
        <p:spPr>
          <a:xfrm>
            <a:off x="6145567" y="2110710"/>
            <a:ext cx="27871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Fetch tactical mesh RDRs from S3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Clip leaf tiles from finest LOD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Recursively generate parent tiles from leaves OR clip parent tiles from coarser LOD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Generate 3DTiles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files and save to S3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 smtClean="0"/>
          </a:p>
        </p:txBody>
      </p:sp>
      <p:sp>
        <p:nvSpPr>
          <p:cNvPr id="93" name="Rectangular Callout 92"/>
          <p:cNvSpPr/>
          <p:nvPr/>
        </p:nvSpPr>
        <p:spPr>
          <a:xfrm>
            <a:off x="6193264" y="2109506"/>
            <a:ext cx="2647890" cy="884695"/>
          </a:xfrm>
          <a:prstGeom prst="wedgeRectCallout">
            <a:avLst>
              <a:gd name="adj1" fmla="val -49752"/>
              <a:gd name="adj2" fmla="val 107141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/>
          <p:cNvSpPr/>
          <p:nvPr/>
        </p:nvSpPr>
        <p:spPr>
          <a:xfrm>
            <a:off x="9858641" y="1849352"/>
            <a:ext cx="1889737" cy="231786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ASTTRO</a:t>
            </a:r>
            <a:endParaRPr lang="en-US" dirty="0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7450065" y="3871403"/>
            <a:ext cx="2408576" cy="13575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6788310" y="1501132"/>
            <a:ext cx="3169884" cy="439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4641891" y="1557617"/>
            <a:ext cx="1171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processing time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&lt; 2 minutes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15" name="Straight Connector 114"/>
          <p:cNvCxnSpPr>
            <a:endCxn id="113" idx="1"/>
          </p:cNvCxnSpPr>
          <p:nvPr/>
        </p:nvCxnSpPr>
        <p:spPr>
          <a:xfrm flipV="1">
            <a:off x="4347411" y="1788450"/>
            <a:ext cx="294480" cy="10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13" idx="3"/>
          </p:cNvCxnSpPr>
          <p:nvPr/>
        </p:nvCxnSpPr>
        <p:spPr>
          <a:xfrm>
            <a:off x="5813109" y="1788450"/>
            <a:ext cx="226847" cy="10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21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/>
          <p:cNvSpPr/>
          <p:nvPr/>
        </p:nvSpPr>
        <p:spPr>
          <a:xfrm>
            <a:off x="763172" y="4466544"/>
            <a:ext cx="10985206" cy="2055409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28337" y="1062971"/>
            <a:ext cx="4799264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ultidocument 4"/>
          <p:cNvSpPr/>
          <p:nvPr/>
        </p:nvSpPr>
        <p:spPr>
          <a:xfrm>
            <a:off x="2269171" y="5163937"/>
            <a:ext cx="1061781" cy="828865"/>
          </a:xfrm>
          <a:prstGeom prst="flowChartMulti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294092" y="5334588"/>
            <a:ext cx="933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Image Label</a:t>
            </a:r>
          </a:p>
          <a:p>
            <a:pPr algn="ctr"/>
            <a:r>
              <a:rPr lang="en-US" sz="1200" dirty="0" smtClean="0"/>
              <a:t>RDRs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4844103" y="4602416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S3</a:t>
            </a:r>
            <a:endParaRPr lang="en-US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2087665" y="2003316"/>
            <a:ext cx="7106653" cy="23136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437282" y="3068007"/>
            <a:ext cx="1762294" cy="843346"/>
            <a:chOff x="2695074" y="1828800"/>
            <a:chExt cx="1122947" cy="893011"/>
          </a:xfrm>
        </p:grpSpPr>
        <p:sp>
          <p:nvSpPr>
            <p:cNvPr id="14" name="Rectangle 13"/>
            <p:cNvSpPr/>
            <p:nvPr/>
          </p:nvSpPr>
          <p:spPr>
            <a:xfrm>
              <a:off x="2695074" y="1828800"/>
              <a:ext cx="1122947" cy="8930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695074" y="1936799"/>
              <a:ext cx="1122947" cy="6843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Landform Tactical Mesh ASTTRO Scene Manifest Worker</a:t>
              </a:r>
              <a:endParaRPr lang="en-US" sz="1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353377" y="1774751"/>
            <a:ext cx="977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EC2 Instance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69859" y="90073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4131878" y="1529449"/>
            <a:ext cx="21534" cy="1534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272" y="785692"/>
            <a:ext cx="1596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TODO Message Queue</a:t>
            </a:r>
            <a:endParaRPr lang="en-US" sz="1200" dirty="0"/>
          </a:p>
        </p:txBody>
      </p:sp>
      <p:cxnSp>
        <p:nvCxnSpPr>
          <p:cNvPr id="43" name="Straight Arrow Connector 42"/>
          <p:cNvCxnSpPr>
            <a:stCxn id="5" idx="0"/>
          </p:cNvCxnSpPr>
          <p:nvPr/>
        </p:nvCxnSpPr>
        <p:spPr>
          <a:xfrm flipV="1">
            <a:off x="2873108" y="3911357"/>
            <a:ext cx="681963" cy="1252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606147" y="3911353"/>
            <a:ext cx="2015966" cy="1306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687386" y="5163937"/>
            <a:ext cx="40609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Spec: </a:t>
            </a:r>
            <a:r>
              <a:rPr lang="en-US" sz="1000" dirty="0" smtClean="0">
                <a:hlinkClick r:id="rId2"/>
              </a:rPr>
              <a:t>https://github.jpl.nasa.gov/OnSight/Landform/wiki/Generic-Scene-File-Specification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Lists all tactical mesh </a:t>
            </a:r>
            <a:r>
              <a:rPr lang="en-US" sz="1000" dirty="0" err="1" smtClean="0"/>
              <a:t>tilesets</a:t>
            </a:r>
            <a:r>
              <a:rPr lang="en-US" sz="1000" dirty="0" smtClean="0"/>
              <a:t> in </a:t>
            </a:r>
            <a:r>
              <a:rPr lang="en-US" sz="1000" dirty="0" err="1"/>
              <a:t>s</a:t>
            </a:r>
            <a:r>
              <a:rPr lang="en-US" sz="1000" dirty="0" err="1" smtClean="0"/>
              <a:t>itedrive</a:t>
            </a:r>
            <a:r>
              <a:rPr lang="en-US" sz="1000" dirty="0" smtClean="0"/>
              <a:t>, including coordinate frame (typically site), associated image, and “groups” (e.g. per instrument)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Also contains camera model &amp; </a:t>
            </a:r>
            <a:r>
              <a:rPr lang="en-US" sz="1000" dirty="0" err="1" smtClean="0"/>
              <a:t>coord</a:t>
            </a:r>
            <a:r>
              <a:rPr lang="en-US" sz="1000" dirty="0" smtClean="0"/>
              <a:t> frame for all associated images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Does not include contextual mesh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or images (separate manifest)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probably versioned to handle case that scene manifest results from more than one unified mesh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66" name="TextBox 65"/>
          <p:cNvSpPr txBox="1"/>
          <p:nvPr/>
        </p:nvSpPr>
        <p:spPr>
          <a:xfrm>
            <a:off x="3311275" y="5173806"/>
            <a:ext cx="32753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Unified mesh gives list of data products in </a:t>
            </a:r>
            <a:r>
              <a:rPr lang="en-US" sz="1000" dirty="0" err="1" smtClean="0"/>
              <a:t>sitedrive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Image RDRs give camera models &amp; coordinate frames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Only need PDS metadata (use .LBL if available vs .IMG)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what variant(s) of images (LIN, ??)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are there data products that ASTTRO wants to know about that are not in any unified mesh?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If a new version of image RDRS are generated is a new unified mesh version also generated?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59664" y="1062691"/>
            <a:ext cx="5074652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5677481" y="1122035"/>
            <a:ext cx="129433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Scene Manifest Ready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9985331" y="858363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sp>
        <p:nvSpPr>
          <p:cNvPr id="72" name="TextBox 71"/>
          <p:cNvSpPr txBox="1"/>
          <p:nvPr/>
        </p:nvSpPr>
        <p:spPr>
          <a:xfrm>
            <a:off x="5376621" y="827140"/>
            <a:ext cx="1679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Sidecar Message </a:t>
            </a:r>
            <a:r>
              <a:rPr lang="en-US" sz="1200" dirty="0" smtClean="0"/>
              <a:t>Queue</a:t>
            </a:r>
            <a:endParaRPr lang="en-US" sz="1200" dirty="0"/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4797638" y="1527345"/>
            <a:ext cx="1028149" cy="1537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36609" y="44902"/>
            <a:ext cx="10695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Landform Tactical Mesh ASTTRO Scene Manifest Architecture for M2020</a:t>
            </a:r>
            <a:endParaRPr lang="en-US" sz="2800" dirty="0"/>
          </a:p>
        </p:txBody>
      </p:sp>
      <p:sp>
        <p:nvSpPr>
          <p:cNvPr id="92" name="TextBox 91"/>
          <p:cNvSpPr txBox="1"/>
          <p:nvPr/>
        </p:nvSpPr>
        <p:spPr>
          <a:xfrm>
            <a:off x="5574340" y="2276130"/>
            <a:ext cx="30835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Fetch all unified meshes for </a:t>
            </a:r>
            <a:r>
              <a:rPr lang="en-US" sz="1000" dirty="0" err="1" smtClean="0"/>
              <a:t>for</a:t>
            </a:r>
            <a:r>
              <a:rPr lang="en-US" sz="1000" dirty="0" smtClean="0"/>
              <a:t>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from S3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Fetch all associated image RDRs from S3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Generate/update ASTTRO scene </a:t>
            </a:r>
            <a:r>
              <a:rPr lang="en-US" sz="1000" dirty="0" err="1" smtClean="0"/>
              <a:t>manifiest</a:t>
            </a:r>
            <a:r>
              <a:rPr lang="en-US" sz="1000" dirty="0" smtClean="0"/>
              <a:t> for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and save to S3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 smtClean="0"/>
          </a:p>
          <a:p>
            <a:pPr marL="228600" indent="-228600">
              <a:buFont typeface="+mj-lt"/>
              <a:buAutoNum type="arabicPeriod"/>
            </a:pPr>
            <a:endParaRPr lang="en-US" sz="1000" dirty="0" smtClean="0"/>
          </a:p>
        </p:txBody>
      </p:sp>
      <p:sp>
        <p:nvSpPr>
          <p:cNvPr id="93" name="Rectangular Callout 92"/>
          <p:cNvSpPr/>
          <p:nvPr/>
        </p:nvSpPr>
        <p:spPr>
          <a:xfrm>
            <a:off x="5590079" y="2239319"/>
            <a:ext cx="2977749" cy="814235"/>
          </a:xfrm>
          <a:prstGeom prst="wedgeRectCallout">
            <a:avLst>
              <a:gd name="adj1" fmla="val -61994"/>
              <a:gd name="adj2" fmla="val 92495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/>
          <p:cNvSpPr/>
          <p:nvPr/>
        </p:nvSpPr>
        <p:spPr>
          <a:xfrm>
            <a:off x="9858641" y="1849352"/>
            <a:ext cx="1889737" cy="231786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ASTTRO</a:t>
            </a:r>
            <a:endParaRPr lang="en-US" dirty="0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7450065" y="3871403"/>
            <a:ext cx="2408576" cy="1357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6971814" y="1504694"/>
            <a:ext cx="2952902" cy="457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15046" y="1122035"/>
            <a:ext cx="1315691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Unified Mesh Ready</a:t>
            </a:r>
            <a:endParaRPr lang="en-US" sz="1200" dirty="0"/>
          </a:p>
        </p:txBody>
      </p:sp>
      <p:sp>
        <p:nvSpPr>
          <p:cNvPr id="49" name="Rounded Rectangle 48"/>
          <p:cNvSpPr/>
          <p:nvPr/>
        </p:nvSpPr>
        <p:spPr>
          <a:xfrm>
            <a:off x="2148070" y="1123694"/>
            <a:ext cx="1315691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Unified Mesh Ready</a:t>
            </a:r>
            <a:endParaRPr lang="en-US" sz="1200" dirty="0"/>
          </a:p>
        </p:txBody>
      </p:sp>
      <p:sp>
        <p:nvSpPr>
          <p:cNvPr id="50" name="Rounded Rectangle 49"/>
          <p:cNvSpPr/>
          <p:nvPr/>
        </p:nvSpPr>
        <p:spPr>
          <a:xfrm>
            <a:off x="3562056" y="1122035"/>
            <a:ext cx="1315691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Unified Mesh Ready</a:t>
            </a:r>
            <a:endParaRPr lang="en-US" sz="1200" dirty="0"/>
          </a:p>
        </p:txBody>
      </p:sp>
      <p:sp>
        <p:nvSpPr>
          <p:cNvPr id="54" name="Rounded Rectangle 53"/>
          <p:cNvSpPr/>
          <p:nvPr/>
        </p:nvSpPr>
        <p:spPr>
          <a:xfrm>
            <a:off x="7189631" y="1119931"/>
            <a:ext cx="129433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Scene Manifest Ready</a:t>
            </a:r>
            <a:endParaRPr lang="en-US" sz="1200" dirty="0"/>
          </a:p>
        </p:txBody>
      </p:sp>
      <p:sp>
        <p:nvSpPr>
          <p:cNvPr id="55" name="Rounded Rectangle 54"/>
          <p:cNvSpPr/>
          <p:nvPr/>
        </p:nvSpPr>
        <p:spPr>
          <a:xfrm>
            <a:off x="8670455" y="1113509"/>
            <a:ext cx="129433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Sitedrive</a:t>
            </a:r>
            <a:r>
              <a:rPr lang="en-US" sz="1200" dirty="0" smtClean="0"/>
              <a:t> Scene Manifest Ready</a:t>
            </a:r>
            <a:endParaRPr lang="en-US" sz="1200" dirty="0"/>
          </a:p>
        </p:txBody>
      </p:sp>
      <p:sp>
        <p:nvSpPr>
          <p:cNvPr id="62" name="Flowchart: Document 61"/>
          <p:cNvSpPr/>
          <p:nvPr/>
        </p:nvSpPr>
        <p:spPr>
          <a:xfrm>
            <a:off x="6622113" y="5228961"/>
            <a:ext cx="1047521" cy="956089"/>
          </a:xfrm>
          <a:prstGeom prst="flowChart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604361" y="5212934"/>
            <a:ext cx="1086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Tactical Mesh</a:t>
            </a:r>
          </a:p>
          <a:p>
            <a:pPr algn="ctr"/>
            <a:r>
              <a:rPr lang="en-US" sz="1200" dirty="0" smtClean="0"/>
              <a:t>ASTTRO Scene</a:t>
            </a:r>
          </a:p>
          <a:p>
            <a:pPr algn="ctr"/>
            <a:r>
              <a:rPr lang="en-US" sz="1200" dirty="0" smtClean="0"/>
              <a:t>Manifest</a:t>
            </a:r>
            <a:endParaRPr lang="en-US"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1166640" y="458588"/>
            <a:ext cx="9636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smtClean="0"/>
              <a:t>needed only as long as ASTTRO cannot determine </a:t>
            </a:r>
            <a:r>
              <a:rPr lang="en-US" sz="2000" i="1" dirty="0" smtClean="0"/>
              <a:t>tactical products for a </a:t>
            </a:r>
            <a:r>
              <a:rPr lang="en-US" sz="2000" i="1" dirty="0" err="1" smtClean="0"/>
              <a:t>sitedrive</a:t>
            </a:r>
            <a:r>
              <a:rPr lang="en-US" sz="2000" i="1" dirty="0" smtClean="0"/>
              <a:t> on </a:t>
            </a:r>
            <a:r>
              <a:rPr lang="en-US" sz="2000" i="1" dirty="0" smtClean="0"/>
              <a:t>its own</a:t>
            </a:r>
            <a:endParaRPr lang="en-US" sz="2000" i="1" dirty="0"/>
          </a:p>
        </p:txBody>
      </p:sp>
      <p:sp>
        <p:nvSpPr>
          <p:cNvPr id="33" name="Flowchart: Process 32"/>
          <p:cNvSpPr/>
          <p:nvPr/>
        </p:nvSpPr>
        <p:spPr>
          <a:xfrm>
            <a:off x="2148070" y="100831"/>
            <a:ext cx="5543063" cy="428558"/>
          </a:xfrm>
          <a:prstGeom prst="flowChartProcess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2269172" y="2195184"/>
            <a:ext cx="1971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EC2 </a:t>
            </a:r>
            <a:r>
              <a:rPr lang="en-US" sz="1000" dirty="0"/>
              <a:t>i</a:t>
            </a:r>
            <a:r>
              <a:rPr lang="en-US" sz="1000" dirty="0" smtClean="0"/>
              <a:t>nstance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Logging &amp;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Versioning &amp; Deployment (e.g. Docker)</a:t>
            </a:r>
          </a:p>
        </p:txBody>
      </p:sp>
      <p:sp>
        <p:nvSpPr>
          <p:cNvPr id="94" name="Flowchart: Multidocument 93"/>
          <p:cNvSpPr/>
          <p:nvPr/>
        </p:nvSpPr>
        <p:spPr>
          <a:xfrm>
            <a:off x="1015091" y="5133315"/>
            <a:ext cx="1072347" cy="828865"/>
          </a:xfrm>
          <a:prstGeom prst="flowChartMulti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979587" y="5255203"/>
            <a:ext cx="1023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 smtClean="0"/>
              <a:t>Sitedrive</a:t>
            </a:r>
            <a:endParaRPr lang="en-US" sz="1200" dirty="0"/>
          </a:p>
          <a:p>
            <a:pPr algn="ctr"/>
            <a:r>
              <a:rPr lang="en-US" sz="1200" dirty="0" smtClean="0"/>
              <a:t>Unified Mesh</a:t>
            </a:r>
          </a:p>
          <a:p>
            <a:pPr algn="ctr"/>
            <a:r>
              <a:rPr lang="en-US" sz="1200" dirty="0" smtClean="0"/>
              <a:t>RDRs</a:t>
            </a:r>
            <a:endParaRPr lang="en-US" sz="1200" dirty="0"/>
          </a:p>
        </p:txBody>
      </p:sp>
      <p:cxnSp>
        <p:nvCxnSpPr>
          <p:cNvPr id="95" name="Straight Arrow Connector 94"/>
          <p:cNvCxnSpPr>
            <a:stCxn id="94" idx="0"/>
          </p:cNvCxnSpPr>
          <p:nvPr/>
        </p:nvCxnSpPr>
        <p:spPr>
          <a:xfrm flipV="1">
            <a:off x="1625038" y="3792045"/>
            <a:ext cx="1812017" cy="13412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336876" y="1573403"/>
            <a:ext cx="117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processing time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&lt; 2 minutes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99" name="Straight Connector 98"/>
          <p:cNvCxnSpPr>
            <a:endCxn id="98" idx="1"/>
          </p:cNvCxnSpPr>
          <p:nvPr/>
        </p:nvCxnSpPr>
        <p:spPr>
          <a:xfrm>
            <a:off x="4138167" y="1804236"/>
            <a:ext cx="19870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98" idx="3"/>
          </p:cNvCxnSpPr>
          <p:nvPr/>
        </p:nvCxnSpPr>
        <p:spPr>
          <a:xfrm>
            <a:off x="5508094" y="1804236"/>
            <a:ext cx="1333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50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agnetic Disk 3"/>
          <p:cNvSpPr/>
          <p:nvPr/>
        </p:nvSpPr>
        <p:spPr>
          <a:xfrm>
            <a:off x="427789" y="4466544"/>
            <a:ext cx="11528927" cy="2321546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64783" y="1062971"/>
            <a:ext cx="4162817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Multidocument 4"/>
          <p:cNvSpPr/>
          <p:nvPr/>
        </p:nvSpPr>
        <p:spPr>
          <a:xfrm>
            <a:off x="2508072" y="5466584"/>
            <a:ext cx="758868" cy="835928"/>
          </a:xfrm>
          <a:prstGeom prst="flowChartMulti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471128" y="5626624"/>
            <a:ext cx="740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Tactical</a:t>
            </a:r>
          </a:p>
          <a:p>
            <a:pPr algn="ctr"/>
            <a:r>
              <a:rPr lang="en-US" sz="1200" dirty="0" smtClean="0"/>
              <a:t>RDRs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4188338" y="4588629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S3</a:t>
            </a:r>
            <a:endParaRPr lang="en-US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2367017" y="2003316"/>
            <a:ext cx="6827301" cy="231364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3429420" y="3371606"/>
            <a:ext cx="1770156" cy="843346"/>
            <a:chOff x="2695074" y="1828800"/>
            <a:chExt cx="1127957" cy="893011"/>
          </a:xfrm>
        </p:grpSpPr>
        <p:sp>
          <p:nvSpPr>
            <p:cNvPr id="14" name="Rectangle 13"/>
            <p:cNvSpPr/>
            <p:nvPr/>
          </p:nvSpPr>
          <p:spPr>
            <a:xfrm>
              <a:off x="2695074" y="1828800"/>
              <a:ext cx="1122947" cy="8930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00084" y="2035775"/>
              <a:ext cx="1122947" cy="4888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Landform Contextual</a:t>
              </a:r>
            </a:p>
            <a:p>
              <a:pPr algn="ctr"/>
              <a:r>
                <a:rPr lang="en-US" sz="1200" dirty="0" smtClean="0"/>
                <a:t>Mesh Worker</a:t>
              </a:r>
              <a:endParaRPr lang="en-US" sz="1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640133" y="1780178"/>
            <a:ext cx="977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EC2 Instance</a:t>
            </a:r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675343" y="858363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4299172" y="1527343"/>
            <a:ext cx="2216" cy="1844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5343" y="800936"/>
            <a:ext cx="1596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TODO Message Queue</a:t>
            </a:r>
            <a:endParaRPr lang="en-US" sz="1200" dirty="0"/>
          </a:p>
        </p:txBody>
      </p:sp>
      <p:cxnSp>
        <p:nvCxnSpPr>
          <p:cNvPr id="43" name="Straight Arrow Connector 42"/>
          <p:cNvCxnSpPr>
            <a:stCxn id="5" idx="0"/>
          </p:cNvCxnSpPr>
          <p:nvPr/>
        </p:nvCxnSpPr>
        <p:spPr>
          <a:xfrm flipV="1">
            <a:off x="2939713" y="4214952"/>
            <a:ext cx="677995" cy="1251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022541" y="4214952"/>
            <a:ext cx="1768617" cy="12098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270431" y="5351613"/>
            <a:ext cx="29875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Relevant product types: RAS, XYZ, UVW, mesh, rover mask, XYZ error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Relevant </a:t>
            </a:r>
            <a:r>
              <a:rPr lang="en-US" sz="1000" dirty="0" smtClean="0"/>
              <a:t>instruments</a:t>
            </a:r>
            <a:r>
              <a:rPr lang="en-US" sz="1000" dirty="0" smtClean="0"/>
              <a:t>: </a:t>
            </a:r>
            <a:r>
              <a:rPr lang="en-US" sz="1000" dirty="0" err="1" smtClean="0"/>
              <a:t>Navcam</a:t>
            </a:r>
            <a:r>
              <a:rPr lang="en-US" sz="1000" dirty="0" smtClean="0"/>
              <a:t>, </a:t>
            </a:r>
            <a:r>
              <a:rPr lang="en-US" sz="1000" dirty="0" err="1" smtClean="0"/>
              <a:t>Mastcam</a:t>
            </a:r>
            <a:r>
              <a:rPr lang="en-US" sz="1000" dirty="0" smtClean="0"/>
              <a:t>, </a:t>
            </a:r>
            <a:r>
              <a:rPr lang="en-US" sz="1000" dirty="0" err="1" smtClean="0"/>
              <a:t>Hazcam</a:t>
            </a:r>
            <a:r>
              <a:rPr lang="en-US" sz="1000" dirty="0" smtClean="0"/>
              <a:t>, </a:t>
            </a:r>
            <a:r>
              <a:rPr lang="en-US" sz="1000" dirty="0" smtClean="0"/>
              <a:t>MAHLI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use nonlinear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handle </a:t>
            </a:r>
            <a:r>
              <a:rPr lang="en-US" sz="1000" dirty="0" err="1" smtClean="0"/>
              <a:t>subframe</a:t>
            </a:r>
            <a:r>
              <a:rPr lang="en-US" sz="1000" dirty="0" smtClean="0"/>
              <a:t>/tiled products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ingest mesh PDS headers</a:t>
            </a:r>
            <a:endParaRPr lang="en-US" sz="1000" dirty="0" smtClean="0"/>
          </a:p>
        </p:txBody>
      </p:sp>
      <p:sp>
        <p:nvSpPr>
          <p:cNvPr id="69" name="Rectangle 68"/>
          <p:cNvSpPr/>
          <p:nvPr/>
        </p:nvSpPr>
        <p:spPr>
          <a:xfrm>
            <a:off x="5459664" y="1062691"/>
            <a:ext cx="4508108" cy="5372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5677481" y="1122035"/>
            <a:ext cx="1742988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Contextual Mesh </a:t>
            </a:r>
            <a:r>
              <a:rPr lang="en-US" sz="1200" dirty="0" err="1" smtClean="0"/>
              <a:t>Tileset</a:t>
            </a:r>
            <a:r>
              <a:rPr lang="en-US" sz="1200" dirty="0" smtClean="0"/>
              <a:t> for Sol/</a:t>
            </a:r>
            <a:r>
              <a:rPr lang="en-US" sz="1200" dirty="0" err="1" smtClean="0"/>
              <a:t>Sitedrive</a:t>
            </a:r>
            <a:r>
              <a:rPr lang="en-US" sz="1200" dirty="0" smtClean="0"/>
              <a:t> Ready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9464108" y="88101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…</a:t>
            </a:r>
            <a:endParaRPr lang="en-US" sz="3600" dirty="0"/>
          </a:p>
        </p:txBody>
      </p:sp>
      <p:sp>
        <p:nvSpPr>
          <p:cNvPr id="72" name="TextBox 71"/>
          <p:cNvSpPr txBox="1"/>
          <p:nvPr/>
        </p:nvSpPr>
        <p:spPr>
          <a:xfrm>
            <a:off x="5376621" y="827140"/>
            <a:ext cx="1679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Sidecar Message </a:t>
            </a:r>
            <a:r>
              <a:rPr lang="en-US" sz="1200" dirty="0" smtClean="0"/>
              <a:t>Queue</a:t>
            </a:r>
            <a:endParaRPr lang="en-US" sz="1200" dirty="0"/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4486615" y="1527346"/>
            <a:ext cx="1488911" cy="1844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575255" y="2110777"/>
            <a:ext cx="35083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Repeat for each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in sol in priority order from newest to oldest, aborting when data for next sol arrives: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Search (TODO </a:t>
            </a:r>
            <a:r>
              <a:rPr lang="en-US" sz="1000" dirty="0" err="1" smtClean="0"/>
              <a:t>PlacesDB</a:t>
            </a:r>
            <a:r>
              <a:rPr lang="en-US" sz="1000" dirty="0" smtClean="0"/>
              <a:t>?) for all other </a:t>
            </a:r>
            <a:r>
              <a:rPr lang="en-US" sz="1000" dirty="0" err="1" smtClean="0"/>
              <a:t>sitedrives</a:t>
            </a:r>
            <a:r>
              <a:rPr lang="en-US" sz="1000" dirty="0" smtClean="0"/>
              <a:t> with origin within 32m of origin of this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(up to some limit)</a:t>
            </a:r>
            <a:endParaRPr lang="en-US" sz="1000" dirty="0" smtClean="0"/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Fetch orbital data &amp; all required RDRs from S3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Refine cross-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and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-orbital alignment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Merge aligned </a:t>
            </a:r>
            <a:r>
              <a:rPr lang="en-US" sz="1000" dirty="0" err="1" smtClean="0"/>
              <a:t>pointclouds</a:t>
            </a:r>
            <a:r>
              <a:rPr lang="en-US" sz="1000" dirty="0" smtClean="0"/>
              <a:t> from all observations + orbital</a:t>
            </a:r>
            <a:endParaRPr lang="en-US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 err="1"/>
              <a:t>R</a:t>
            </a:r>
            <a:r>
              <a:rPr lang="en-US" sz="1000" dirty="0" err="1" smtClean="0"/>
              <a:t>emesh</a:t>
            </a:r>
            <a:r>
              <a:rPr lang="en-US" sz="1000" dirty="0" smtClean="0"/>
              <a:t> 64m square around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origin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Generate texture by </a:t>
            </a:r>
            <a:r>
              <a:rPr lang="en-US" sz="1000" dirty="0" err="1" smtClean="0"/>
              <a:t>backprojecting</a:t>
            </a:r>
            <a:r>
              <a:rPr lang="en-US" sz="1000" dirty="0" smtClean="0"/>
              <a:t> from mesh to observation and orbital images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Blend texture to minimize exposure seams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Generate 3DTiles hierarchical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and save to S3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smtClean="0"/>
              <a:t>Generate ASTTRO scene manifest and save to S3</a:t>
            </a:r>
          </a:p>
          <a:p>
            <a:pPr marL="228600" indent="-228600">
              <a:buFont typeface="+mj-lt"/>
              <a:buAutoNum type="arabicPeriod"/>
            </a:pPr>
            <a:endParaRPr lang="en-US" sz="1000" dirty="0" smtClean="0"/>
          </a:p>
        </p:txBody>
      </p:sp>
      <p:sp>
        <p:nvSpPr>
          <p:cNvPr id="93" name="Rectangular Callout 92"/>
          <p:cNvSpPr/>
          <p:nvPr/>
        </p:nvSpPr>
        <p:spPr>
          <a:xfrm>
            <a:off x="5590079" y="2132620"/>
            <a:ext cx="3409542" cy="2082332"/>
          </a:xfrm>
          <a:prstGeom prst="wedgeRectCallout">
            <a:avLst>
              <a:gd name="adj1" fmla="val -61367"/>
              <a:gd name="adj2" fmla="val 19821"/>
            </a:avLst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/>
          <p:cNvSpPr/>
          <p:nvPr/>
        </p:nvSpPr>
        <p:spPr>
          <a:xfrm>
            <a:off x="9858641" y="1849352"/>
            <a:ext cx="1889737" cy="231786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ASTTRO</a:t>
            </a:r>
            <a:endParaRPr lang="en-US" dirty="0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7406591" y="3871403"/>
            <a:ext cx="2452050" cy="15533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7368674" y="1527343"/>
            <a:ext cx="2540000" cy="475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179941" y="1127592"/>
            <a:ext cx="170098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RDR Generation </a:t>
            </a:r>
            <a:r>
              <a:rPr lang="en-US" sz="1200" dirty="0"/>
              <a:t>C</a:t>
            </a:r>
            <a:r>
              <a:rPr lang="en-US" sz="1200" dirty="0" smtClean="0"/>
              <a:t>omplete for Sol</a:t>
            </a:r>
            <a:endParaRPr lang="en-US"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2448191" y="2192196"/>
            <a:ext cx="1891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EC2 </a:t>
            </a:r>
            <a:r>
              <a:rPr lang="en-US" sz="1000" dirty="0"/>
              <a:t>i</a:t>
            </a:r>
            <a:r>
              <a:rPr lang="en-US" sz="1000" dirty="0" smtClean="0"/>
              <a:t>nstance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Logging &amp;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TODO: Versioning &amp; Deployment (e.g. Docker)</a:t>
            </a:r>
          </a:p>
        </p:txBody>
      </p:sp>
      <p:sp>
        <p:nvSpPr>
          <p:cNvPr id="94" name="Flowchart: Multidocument 93"/>
          <p:cNvSpPr/>
          <p:nvPr/>
        </p:nvSpPr>
        <p:spPr>
          <a:xfrm>
            <a:off x="1352077" y="5484241"/>
            <a:ext cx="1072347" cy="828865"/>
          </a:xfrm>
          <a:prstGeom prst="flowChartMulti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1316573" y="5606129"/>
            <a:ext cx="1023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 smtClean="0"/>
              <a:t>Sitedrive</a:t>
            </a:r>
            <a:endParaRPr lang="en-US" sz="1200" dirty="0"/>
          </a:p>
          <a:p>
            <a:pPr algn="ctr"/>
            <a:r>
              <a:rPr lang="en-US" sz="1200" dirty="0" smtClean="0"/>
              <a:t>Unified Mesh</a:t>
            </a:r>
          </a:p>
          <a:p>
            <a:pPr algn="ctr"/>
            <a:r>
              <a:rPr lang="en-US" sz="1200" dirty="0" smtClean="0"/>
              <a:t>RDRs</a:t>
            </a:r>
            <a:endParaRPr lang="en-US" sz="1200" dirty="0"/>
          </a:p>
        </p:txBody>
      </p:sp>
      <p:cxnSp>
        <p:nvCxnSpPr>
          <p:cNvPr id="95" name="Straight Arrow Connector 94"/>
          <p:cNvCxnSpPr>
            <a:stCxn id="94" idx="0"/>
          </p:cNvCxnSpPr>
          <p:nvPr/>
        </p:nvCxnSpPr>
        <p:spPr>
          <a:xfrm flipV="1">
            <a:off x="1962024" y="4216237"/>
            <a:ext cx="1467396" cy="1268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486615" y="1573403"/>
            <a:ext cx="117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processing time</a:t>
            </a:r>
          </a:p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&lt; 30 minutes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99" name="Straight Connector 98"/>
          <p:cNvCxnSpPr>
            <a:endCxn id="98" idx="1"/>
          </p:cNvCxnSpPr>
          <p:nvPr/>
        </p:nvCxnSpPr>
        <p:spPr>
          <a:xfrm>
            <a:off x="4309540" y="1804235"/>
            <a:ext cx="177075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98" idx="3"/>
          </p:cNvCxnSpPr>
          <p:nvPr/>
        </p:nvCxnSpPr>
        <p:spPr>
          <a:xfrm>
            <a:off x="5657833" y="1804236"/>
            <a:ext cx="95904" cy="24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374198" y="3504"/>
            <a:ext cx="9763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Landform Contextual Mesh Architecture for M2020</a:t>
            </a:r>
            <a:endParaRPr lang="en-US" sz="3600" dirty="0"/>
          </a:p>
        </p:txBody>
      </p:sp>
      <p:grpSp>
        <p:nvGrpSpPr>
          <p:cNvPr id="47" name="Group 46"/>
          <p:cNvGrpSpPr/>
          <p:nvPr/>
        </p:nvGrpSpPr>
        <p:grpSpPr>
          <a:xfrm>
            <a:off x="6286946" y="5424778"/>
            <a:ext cx="1352945" cy="828865"/>
            <a:chOff x="3677094" y="3741080"/>
            <a:chExt cx="1352945" cy="1122948"/>
          </a:xfrm>
        </p:grpSpPr>
        <p:sp>
          <p:nvSpPr>
            <p:cNvPr id="51" name="Flowchart: Multidocument 50"/>
            <p:cNvSpPr/>
            <p:nvPr/>
          </p:nvSpPr>
          <p:spPr>
            <a:xfrm>
              <a:off x="3746671" y="3741080"/>
              <a:ext cx="1283368" cy="1122948"/>
            </a:xfrm>
            <a:prstGeom prst="flowChartMultidocumen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677094" y="3970568"/>
              <a:ext cx="1244123" cy="625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Contextual Mesh</a:t>
              </a:r>
            </a:p>
            <a:p>
              <a:pPr algn="ctr"/>
              <a:r>
                <a:rPr lang="en-US" sz="1200" dirty="0" smtClean="0"/>
                <a:t>3DTiles </a:t>
              </a:r>
              <a:r>
                <a:rPr lang="en-US" sz="1200" dirty="0" err="1" smtClean="0"/>
                <a:t>Tileset</a:t>
              </a:r>
              <a:endParaRPr lang="en-US" sz="1200" dirty="0"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7738477" y="5156874"/>
            <a:ext cx="35934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Up to one contextual mesh per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per sol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typically only generate for latest </a:t>
            </a:r>
            <a:r>
              <a:rPr lang="en-US" sz="1000" dirty="0" err="1" smtClean="0"/>
              <a:t>sitedrive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Directory of files, directory name identifies </a:t>
            </a:r>
            <a:r>
              <a:rPr lang="en-US" sz="1000" dirty="0" smtClean="0"/>
              <a:t>sol/</a:t>
            </a:r>
            <a:r>
              <a:rPr lang="en-US" sz="1000" dirty="0" err="1" smtClean="0"/>
              <a:t>sitedrive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Spec: </a:t>
            </a:r>
            <a:r>
              <a:rPr lang="en-US" sz="1000" dirty="0" smtClean="0">
                <a:hlinkClick r:id="rId2"/>
              </a:rPr>
              <a:t>https://github.com/AnalyticalGraphicsInc/3d-tiles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One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.</a:t>
            </a:r>
            <a:r>
              <a:rPr lang="en-US" sz="1000" dirty="0" err="1" smtClean="0"/>
              <a:t>json</a:t>
            </a:r>
            <a:r>
              <a:rPr lang="en-US" sz="1000" dirty="0" smtClean="0"/>
              <a:t> file, many .b3dm tile mesh/texture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Also includes ASTTRO scene manifest listing contextual mesh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+ camera model &amp; </a:t>
            </a:r>
            <a:r>
              <a:rPr lang="en-US" sz="1000" dirty="0" err="1" smtClean="0"/>
              <a:t>coord</a:t>
            </a:r>
            <a:r>
              <a:rPr lang="en-US" sz="1000" dirty="0" smtClean="0"/>
              <a:t> frame of all associated images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Also includes PDS headers file with coordinate frame labels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/>
              <a:t>Contextual mesh </a:t>
            </a:r>
            <a:r>
              <a:rPr lang="en-US" sz="1000" dirty="0" err="1" smtClean="0"/>
              <a:t>tileset</a:t>
            </a:r>
            <a:r>
              <a:rPr lang="en-US" sz="1000" dirty="0" smtClean="0"/>
              <a:t> always in </a:t>
            </a:r>
            <a:r>
              <a:rPr lang="en-US" sz="1000" dirty="0" err="1" smtClean="0"/>
              <a:t>local_level</a:t>
            </a:r>
            <a:r>
              <a:rPr lang="en-US" sz="1000" dirty="0" smtClean="0"/>
              <a:t> frame of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and </a:t>
            </a:r>
            <a:r>
              <a:rPr lang="en-US" sz="1000" dirty="0" smtClean="0"/>
              <a:t>centered on </a:t>
            </a:r>
            <a:r>
              <a:rPr lang="en-US" sz="1000" dirty="0" err="1" smtClean="0"/>
              <a:t>sitedrive</a:t>
            </a:r>
            <a:r>
              <a:rPr lang="en-US" sz="1000" dirty="0" smtClean="0"/>
              <a:t> origin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09513" y="1130065"/>
            <a:ext cx="1700983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RDR </a:t>
            </a:r>
            <a:r>
              <a:rPr lang="en-US" sz="1200" dirty="0"/>
              <a:t>G</a:t>
            </a:r>
            <a:r>
              <a:rPr lang="en-US" sz="1200" dirty="0" smtClean="0"/>
              <a:t>eneration Complete for Sol</a:t>
            </a:r>
            <a:endParaRPr lang="en-US" sz="1200" dirty="0"/>
          </a:p>
        </p:txBody>
      </p:sp>
      <p:sp>
        <p:nvSpPr>
          <p:cNvPr id="57" name="Rounded Rectangle 56"/>
          <p:cNvSpPr/>
          <p:nvPr/>
        </p:nvSpPr>
        <p:spPr>
          <a:xfrm>
            <a:off x="7696334" y="1130065"/>
            <a:ext cx="1742988" cy="40741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Contextual Mesh </a:t>
            </a:r>
            <a:r>
              <a:rPr lang="en-US" sz="1200" dirty="0" err="1" smtClean="0"/>
              <a:t>Tileset</a:t>
            </a:r>
            <a:r>
              <a:rPr lang="en-US" sz="1200" dirty="0" smtClean="0"/>
              <a:t> for Sol/</a:t>
            </a:r>
            <a:r>
              <a:rPr lang="en-US" sz="1200" dirty="0" err="1" smtClean="0"/>
              <a:t>Sitedrive</a:t>
            </a:r>
            <a:r>
              <a:rPr lang="en-US" sz="1200" dirty="0" smtClean="0"/>
              <a:t> Ready</a:t>
            </a:r>
            <a:endParaRPr lang="en-US" sz="1200" dirty="0"/>
          </a:p>
        </p:txBody>
      </p:sp>
      <p:sp>
        <p:nvSpPr>
          <p:cNvPr id="67" name="Flowchart: Multidocument 66"/>
          <p:cNvSpPr/>
          <p:nvPr/>
        </p:nvSpPr>
        <p:spPr>
          <a:xfrm>
            <a:off x="522917" y="5480709"/>
            <a:ext cx="758868" cy="835928"/>
          </a:xfrm>
          <a:prstGeom prst="flowChartMultidocumen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473880" y="5594167"/>
            <a:ext cx="740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Orbital</a:t>
            </a:r>
          </a:p>
          <a:p>
            <a:pPr algn="ctr"/>
            <a:r>
              <a:rPr lang="en-US" sz="1200" dirty="0" smtClean="0"/>
              <a:t>DEM &amp; image</a:t>
            </a:r>
            <a:endParaRPr lang="en-US" sz="1200" dirty="0"/>
          </a:p>
        </p:txBody>
      </p:sp>
      <p:cxnSp>
        <p:nvCxnSpPr>
          <p:cNvPr id="73" name="Straight Arrow Connector 72"/>
          <p:cNvCxnSpPr>
            <a:stCxn id="67" idx="0"/>
          </p:cNvCxnSpPr>
          <p:nvPr/>
        </p:nvCxnSpPr>
        <p:spPr>
          <a:xfrm flipV="1">
            <a:off x="954558" y="4113020"/>
            <a:ext cx="2474862" cy="13676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Flowchart: Magnetic Disk 17"/>
          <p:cNvSpPr/>
          <p:nvPr/>
        </p:nvSpPr>
        <p:spPr>
          <a:xfrm>
            <a:off x="445151" y="2965522"/>
            <a:ext cx="914400" cy="146907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522917" y="3079870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Places DB</a:t>
            </a:r>
            <a:endParaRPr lang="en-US" sz="1200" dirty="0"/>
          </a:p>
        </p:txBody>
      </p:sp>
      <p:cxnSp>
        <p:nvCxnSpPr>
          <p:cNvPr id="77" name="Straight Arrow Connector 76"/>
          <p:cNvCxnSpPr/>
          <p:nvPr/>
        </p:nvCxnSpPr>
        <p:spPr>
          <a:xfrm>
            <a:off x="1349755" y="3486046"/>
            <a:ext cx="2081990" cy="9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06449" y="3303464"/>
            <a:ext cx="8435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Rover -&gt; Site</a:t>
            </a:r>
            <a:endParaRPr lang="en-US" sz="1000" dirty="0"/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1359229" y="3680192"/>
            <a:ext cx="2070191" cy="10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304124" y="3498693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Site -&gt; Site</a:t>
            </a:r>
            <a:endParaRPr lang="en-US" sz="1000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1349755" y="3878108"/>
            <a:ext cx="2070191" cy="10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294650" y="3696609"/>
            <a:ext cx="1007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Rover -&gt; Orbital</a:t>
            </a:r>
            <a:endParaRPr lang="en-US" sz="1000" dirty="0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1359229" y="4076858"/>
            <a:ext cx="206071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773188" y="3902572"/>
            <a:ext cx="165462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schemeClr val="bg1">
                    <a:lumMod val="75000"/>
                  </a:schemeClr>
                </a:solidFill>
              </a:rPr>
              <a:t>Landform Alignment Results</a:t>
            </a:r>
            <a:endParaRPr lang="en-US" sz="1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03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1445</TotalTime>
  <Words>841</Words>
  <Application>Microsoft Office PowerPoint</Application>
  <PresentationFormat>Widescreen</PresentationFormat>
  <Paragraphs>154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Ops Lab</dc:creator>
  <cp:lastModifiedBy>Ops Lab</cp:lastModifiedBy>
  <cp:revision>35</cp:revision>
  <dcterms:created xsi:type="dcterms:W3CDTF">2019-10-09T15:58:54Z</dcterms:created>
  <dcterms:modified xsi:type="dcterms:W3CDTF">2019-10-10T16:04:54Z</dcterms:modified>
</cp:coreProperties>
</file>